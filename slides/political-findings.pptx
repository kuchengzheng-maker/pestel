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9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Entry EV price (USD, ex-tax)</c:v>
                </c:pt>
              </c:strCache>
            </c:strRef>
          </c:tx>
          <c:spPr>
            <a:solidFill>
              <a:srgbClr val="3081A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China</c:v>
                  </c:pt>
                  <c:pt idx="1">
                    <c:v>Canada</c:v>
                  </c:pt>
                  <c:pt idx="2">
                    <c:v>Europe (DE)</c:v>
                  </c:pt>
                  <c:pt idx="3">
                    <c:v>Mexico</c:v>
                  </c:pt>
                  <c:pt idx="4">
                    <c:v>United States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9205</c:v>
                </c:pt>
                <c:pt idx="1">
                  <c:v>18051</c:v>
                </c:pt>
                <c:pt idx="2">
                  <c:v>19533</c:v>
                </c:pt>
                <c:pt idx="3">
                  <c:v>19583</c:v>
                </c:pt>
                <c:pt idx="4">
                  <c:v>28995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BYD Seagull (exported from China)</c:v>
                </c:pt>
              </c:strCache>
            </c:strRef>
          </c:tx>
          <c:spPr>
            <a:solidFill>
              <a:srgbClr val="D99A1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China</c:v>
                  </c:pt>
                  <c:pt idx="1">
                    <c:v>Canada</c:v>
                  </c:pt>
                  <c:pt idx="2">
                    <c:v>Germany</c:v>
                  </c:pt>
                  <c:pt idx="3">
                    <c:v>Mexico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196</c:v>
                </c:pt>
                <c:pt idx="2">
                  <c:v>212</c:v>
                </c:pt>
                <c:pt idx="3">
                  <c:v>213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Tesla Model Y (built locally in each market)</c:v>
                </c:pt>
              </c:strCache>
            </c:strRef>
          </c:tx>
          <c:spPr>
            <a:solidFill>
              <a:srgbClr val="3081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China</c:v>
                  </c:pt>
                  <c:pt idx="1">
                    <c:v>Canada</c:v>
                  </c:pt>
                  <c:pt idx="2">
                    <c:v>Germany</c:v>
                  </c:pt>
                  <c:pt idx="3">
                    <c:v>Mexico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104</c:v>
                </c:pt>
                <c:pt idx="2">
                  <c:v>113</c:v>
                </c:pt>
                <c:pt idx="3">
                  <c:v>113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3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Floor — cheapest EV</c:v>
                </c:pt>
              </c:strCache>
            </c:strRef>
          </c:tx>
          <c:spPr>
            <a:solidFill>
              <a:srgbClr val="3081A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China</c:v>
                  </c:pt>
                  <c:pt idx="1">
                    <c:v>Europe (DE)</c:v>
                  </c:pt>
                  <c:pt idx="2">
                    <c:v>Canada</c:v>
                  </c:pt>
                  <c:pt idx="3">
                    <c:v>Mexico</c:v>
                  </c:pt>
                  <c:pt idx="4">
                    <c:v>United States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7480</c:v>
                </c:pt>
                <c:pt idx="1">
                  <c:v>16514</c:v>
                </c:pt>
                <c:pt idx="2">
                  <c:v>18051</c:v>
                </c:pt>
                <c:pt idx="3">
                  <c:v>19583</c:v>
                </c:pt>
                <c:pt idx="4">
                  <c:v>28995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Ceiling — dearest EV</c:v>
                </c:pt>
              </c:strCache>
            </c:strRef>
          </c:tx>
          <c:spPr>
            <a:solidFill>
              <a:srgbClr val="D99A16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China</c:v>
                  </c:pt>
                  <c:pt idx="1">
                    <c:v>Europe (DE)</c:v>
                  </c:pt>
                  <c:pt idx="2">
                    <c:v>Canada</c:v>
                  </c:pt>
                  <c:pt idx="3">
                    <c:v>Mexico</c:v>
                  </c:pt>
                  <c:pt idx="4">
                    <c:v>United States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59234</c:v>
                </c:pt>
                <c:pt idx="1">
                  <c:v>75532</c:v>
                </c:pt>
                <c:pt idx="2">
                  <c:v>61585</c:v>
                </c:pt>
                <c:pt idx="3">
                  <c:v>79290</c:v>
                </c:pt>
                <c:pt idx="4">
                  <c:v>127405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9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3202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in EV sales, 2026 vs 2025</c:v>
                </c:pt>
              </c:strCache>
            </c:strRef>
          </c:tx>
          <c:spPr>
            <a:solidFill>
              <a:srgbClr val="3081AE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Mexico</c:v>
                  </c:pt>
                  <c:pt idx="1">
                    <c:v>Canada</c:v>
                  </c:pt>
                  <c:pt idx="2">
                    <c:v>Europe</c:v>
                  </c:pt>
                  <c:pt idx="3">
                    <c:v>United States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</c:v>
                </c:pt>
                <c:pt idx="1">
                  <c:v>40</c:v>
                </c:pt>
                <c:pt idx="2">
                  <c:v>35</c:v>
                </c:pt>
                <c:pt idx="3">
                  <c:v>-28</c:v>
                </c:pt>
              </c:numCache>
            </c:numRef>
          </c:val>
        </c:ser>
        <c:dLbls>
          <c:numFmt formatCode="+0&quot;%&quot;;-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U.S. BEV share of new sales</c:v>
                </c:pt>
              </c:strCache>
            </c:strRef>
          </c:tx>
          <c:spPr>
            <a:solidFill>
              <a:srgbClr val="C0392B"/>
            </a:solidFill>
            <a:ln w="38100" cap="flat">
              <a:solidFill>
                <a:srgbClr val="C0392B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C0392B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Q3 2025</c:v>
                  </c:pt>
                  <c:pt idx="1">
                    <c:v>Q4 2025</c:v>
                  </c:pt>
                  <c:pt idx="2">
                    <c:v>Q1 2026</c:v>
                  </c:pt>
                  <c:pt idx="3">
                    <c:v>Q2 2026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7.5</c:v>
                </c:pt>
                <c:pt idx="1">
                  <c:v>5.8</c:v>
                </c:pt>
                <c:pt idx="2">
                  <c:v>5.8</c:v>
                </c:pt>
                <c:pt idx="3">
                  <c:v>6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 to the buyer</c:v>
                </c:pt>
              </c:strCache>
            </c:strRef>
          </c:tx>
          <c:spPr>
            <a:solidFill>
              <a:srgbClr val="15A48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A48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E7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Equinox EV
with $7,500 credit
(to Sept 2025)</c:v>
                  </c:pt>
                  <c:pt idx="1">
                    <c:v>Equinox
(gasoline)</c:v>
                  </c:pt>
                  <c:pt idx="2">
                    <c:v>Equinox EV
today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28995</c:v>
                </c:pt>
                <c:pt idx="1">
                  <c:v>29995</c:v>
                </c:pt>
                <c:pt idx="2">
                  <c:v>36495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000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U.S. price vs comparison market</c:v>
                </c:pt>
              </c:strCache>
            </c:strRef>
          </c:tx>
          <c:spPr>
            <a:solidFill>
              <a:srgbClr val="3081AE"/>
            </a:solidFill>
            <a:effectLst/>
          </c:spPr>
          <c:invertIfNegative val="0"/>
          <c:dLbls>
            <c:numFmt formatCode="+0&quot;%&quot;;-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9A1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Mustang Mach-E
vs Germany</c:v>
                  </c:pt>
                  <c:pt idx="1">
                    <c:v>VW ID.4
vs Germany</c:v>
                  </c:pt>
                  <c:pt idx="2">
                    <c:v>Tesla Model Y
vs Germany</c:v>
                  </c:pt>
                  <c:pt idx="3">
                    <c:v>Kia EV9
vs Canada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-31</c:v>
                </c:pt>
                <c:pt idx="1">
                  <c:v>-5</c:v>
                </c:pt>
                <c:pt idx="2">
                  <c:v>2</c:v>
                </c:pt>
                <c:pt idx="3">
                  <c:v>27</c:v>
                </c:pt>
              </c:numCache>
            </c:numRef>
          </c:val>
        </c:ser>
        <c:dLbls>
          <c:numFmt formatCode="+0&quot;%&quot;;-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Cheapest U.S. electric option</c:v>
                </c:pt>
              </c:strCache>
            </c:strRef>
          </c:tx>
          <c:spPr>
            <a:solidFill>
              <a:srgbClr val="3081AE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99A1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99A1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Supermini</c:v>
                  </c:pt>
                  <c:pt idx="1">
                    <c:v>Compact SUV</c:v>
                  </c:pt>
                  <c:pt idx="2">
                    <c:v>Mid-size SUV</c:v>
                  </c:pt>
                  <c:pt idx="3">
                    <c:v>Pickup</c:v>
                  </c:pt>
                  <c:pt idx="4">
                    <c:v>Full-size SUV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28995</c:v>
                </c:pt>
                <c:pt idx="1">
                  <c:v>36495</c:v>
                </c:pt>
                <c:pt idx="2">
                  <c:v>39990</c:v>
                </c:pt>
                <c:pt idx="3">
                  <c:v>52800</c:v>
                </c:pt>
                <c:pt idx="4">
                  <c:v>54900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Premium over the gasoline version</c:v>
                </c:pt>
              </c:strCache>
            </c:strRef>
          </c:tx>
          <c:spPr>
            <a:solidFill>
              <a:srgbClr val="15A48E"/>
            </a:solidFill>
            <a:effectLst/>
          </c:spPr>
          <c:invertIfNegative val="0"/>
          <c:dLbls>
            <c:numFmt formatCode="+$#,##0;-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320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A48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081A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Battery-electric
with the credit
(to Sept 2025)</c:v>
                  </c:pt>
                  <c:pt idx="1">
                    <c:v>Hybrid
(never subsidised)</c:v>
                  </c:pt>
                  <c:pt idx="2">
                    <c:v>Battery-electric
today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-1000</c:v>
                </c:pt>
                <c:pt idx="1">
                  <c:v>4710</c:v>
                </c:pt>
                <c:pt idx="2">
                  <c:v>6500</c:v>
                </c:pt>
              </c:numCache>
            </c:numRef>
          </c:val>
        </c:ser>
        <c:dLbls>
          <c:numFmt formatCode="+$#,##0;-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320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D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E7C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Political factor of a PESTEL analysis of the U.S. EV market. Core thesis: the policy effect is a missing market segment, not a higher price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Headline: distribution, not level. This framing survives every normalization test in the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analytical move of the whole section: separate price instruments from the prohibition.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Caveat stated on the slide: these are price-point comparisons, not value-for-money comparisons.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deliberately argues against the strongest version of the case. It is what makes the rest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Feenstra 1985: under the Japanese VER two-thirds of the price rise was trim upgrading, not like-for-like increases.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markets, four policy regimes, one outlier — and the outlier combined exclusion with subsidy withdrawal in the same twelve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45W lease repeal matters more for affordability than the headline 30D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most consumer-legible slide in the deck. No international comparison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Protection is being converted into margin rather than into cheaper cars.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makes the argument falsifiable — and it survives.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Strong and innovative above $50,000, absent below $29,000. Neither policy set out to build a barbell; both did.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Remove support from one powertrain and leave the other untouched, and the hybrid takes the middle of the market by default.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Probabilities are directional judgements, not model outputs. The near-certainties are near-certain because they are already law.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417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PESTEL · U.S. ELECTRIC VEHICLE MARKET · FACTOR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 price level,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abnormal price floor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03320"/>
            <a:ext cx="8778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prohibition on Chinese EVs and the expiry of the $7,500 federal tax credit reshaped what an electric car costs an American — and who can still buy 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54880"/>
            <a:ext cx="1920240" cy="18288"/>
          </a:xfrm>
          <a:prstGeom prst="rect">
            <a:avLst/>
          </a:prstGeom>
          <a:solidFill>
            <a:srgbClr val="D99A1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4956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September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did not make EVs expensive. It made the cheap ones illegal.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decisions moved together: one removed the lowest-cost supply, the other removed the largest demand-side subsidy.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2578608" cy="1572768"/>
          </a:xfrm>
          <a:prstGeom prst="roundRect">
            <a:avLst>
              <a:gd name="adj" fmla="val 3488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22311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$28,995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2907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new EV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United States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55848" y="2084832"/>
            <a:ext cx="2578608" cy="1572768"/>
          </a:xfrm>
          <a:prstGeom prst="roundRect">
            <a:avLst>
              <a:gd name="adj" fmla="val 3488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57016" y="22311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081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$18,051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57016" y="2907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new EV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Canada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44768" y="2084832"/>
            <a:ext cx="2578608" cy="1572768"/>
          </a:xfrm>
          <a:prstGeom prst="roundRect">
            <a:avLst>
              <a:gd name="adj" fmla="val 3488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45936" y="22311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081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5.8%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45936" y="2907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BEV share of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sales, Q1 2026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933688" y="2084832"/>
            <a:ext cx="2578608" cy="1572768"/>
          </a:xfrm>
          <a:prstGeom prst="roundRect">
            <a:avLst>
              <a:gd name="adj" fmla="val 3488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4856" y="22311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−28%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34856" y="290779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new BEV sales,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2026 vs Q1 2025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3986784"/>
            <a:ext cx="11027664" cy="2048256"/>
          </a:xfrm>
          <a:prstGeom prst="roundRect">
            <a:avLst>
              <a:gd name="adj" fmla="val 2679"/>
            </a:avLst>
          </a:prstGeom>
          <a:solidFill>
            <a:srgbClr val="0E2A3A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426110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United States has a normal EV market in the middle and at the top, and no bottom at all.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809744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for local incomes and vehicle price levels, the U.S. is level with Germany — Americans are not paying more per car.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measurable policy effect sits in the A and B size classes, where the U.S. figure is not a higher number but a blank cell.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makes this a finding about distribution, not about price level.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Automotive Q1 2026 EV sales report · InsideEVs · BYD Canada launch pricing · OECD household disposable income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"ban" is three instruments — and only one is a ban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Tariffs raise cost and can be engineered around. The connected-vehicle rule attaches to manufacturer ownership, so no price clears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3493008" cy="3246120"/>
          </a:xfrm>
          <a:prstGeom prst="roundRect">
            <a:avLst>
              <a:gd name="adj" fmla="val 1690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359152"/>
            <a:ext cx="420624" cy="420624"/>
          </a:xfrm>
          <a:prstGeom prst="ellipse">
            <a:avLst/>
          </a:prstGeom>
          <a:solidFill>
            <a:srgbClr val="D99A1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63724"/>
            <a:ext cx="420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301 tariff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529584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on Chinese-built EVs since Sept 2024, stacked on the 2.5% MFN duty.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47183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INSTRUMENT — avoidable by assembling outside China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06824" y="2103120"/>
            <a:ext cx="3493008" cy="3246120"/>
          </a:xfrm>
          <a:prstGeom prst="roundRect">
            <a:avLst>
              <a:gd name="adj" fmla="val 1690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1144" y="2359152"/>
            <a:ext cx="420624" cy="420624"/>
          </a:xfrm>
          <a:prstGeom prst="ellipse">
            <a:avLst/>
          </a:prstGeom>
          <a:solidFill>
            <a:srgbClr val="D99A1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1144" y="2363724"/>
            <a:ext cx="420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81144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232 tariff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581144" y="3529584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on all imported vehicles since April 2025. Adds $5,000–8,900 to imported models.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81144" y="47183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9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INSTRUMENT — partly avoidable via USMCA content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2103120"/>
            <a:ext cx="3493008" cy="3246120"/>
          </a:xfrm>
          <a:prstGeom prst="roundRect">
            <a:avLst>
              <a:gd name="adj" fmla="val 1690"/>
            </a:avLst>
          </a:prstGeom>
          <a:solidFill>
            <a:srgbClr val="FBEDEB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2359152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2363724"/>
            <a:ext cx="4206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92608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BIS connected-vehicle rule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3529584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 year 2027, bars any China-controlled manufacturer from selling a connected vehicle — regardless of where it is built.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471830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PROHIBITION — no price makes the car legal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577840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 3 is decisive: BYD cannot tariff-engineer its way in by assembling in Mexico or Hungary, because the prohibition attaches to who owns the manufacturer, not to where the car was made.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 final rule, Jan 2025 (effective Mar 2025) · CRS, Section 232 Automotive Tariffs · USTR Section 301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1 — THE FLOOR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cheapest electric car you can buy, by market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Entry-level battery-electric vehicle, converted to USD excluding consumption tax.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1965960"/>
          <a:ext cx="704088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882128" y="1965960"/>
            <a:ext cx="3712464" cy="3886200"/>
          </a:xfrm>
          <a:prstGeom prst="roundRect">
            <a:avLst>
              <a:gd name="adj" fmla="val 1478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56448" y="22128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$9,000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8156448" y="276148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than Canada's entry point — and the U.S. has no product at all below $28,995.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3529584"/>
            <a:ext cx="3200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alone offers four competing cars under $20,000 ex-VAT.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is not a markup on a car Americans can buy. It is a class of car that does not exist here.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differ: a Dolphin Surf is a 30 kWh city car; a Bolt is a 65 kWh, 262-mile hatch.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InsideEVs · BYD China/Mexico/Europe listings · BYD Canada launch pricing · rates: CNY 6.72, MXN 17.6, EUR 0.86, CAD 1.385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2 — CALIBRATION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Chinese EVs stop being cheap at any border they cross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vehicle, indexed to its Chinese price = 100. The BYD Seagull doubles on export; a locally-built Tesla barely moves.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84832"/>
          <a:ext cx="72237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28432" y="2084832"/>
            <a:ext cx="3566160" cy="3566160"/>
          </a:xfrm>
          <a:prstGeom prst="roundRect">
            <a:avLst>
              <a:gd name="adj" fmla="val 1538"/>
            </a:avLst>
          </a:prstGeom>
          <a:solidFill>
            <a:srgbClr val="FDF6E8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84464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D9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284464" y="2651760"/>
            <a:ext cx="3072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rung missing from the U.S. ladder is a $20,000–23,000 car — not a $10,000 one.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284464" y="3602736"/>
            <a:ext cx="30723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export market roughly doubles China's domestic price, including those where the car is perfectly legal. China's home price is therefore not a valid policy counterfactual — Canada, Mexico and Europe are.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where a maker builds locally, prices converge within 15% across all five markets, the U.S. included.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BYD and Tesla list prices, Sept 2026, converted ex-consumption-tax. U.S. Seagull row omitted: not sold at any price.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3 — THE LADDER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kept building variety. They built it upward.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and top of each market's full electric range, across all five size classes.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48256"/>
          <a:ext cx="74523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257032" y="2048256"/>
            <a:ext cx="3337560" cy="3611880"/>
          </a:xfrm>
          <a:prstGeom prst="roundRect">
            <a:avLst>
              <a:gd name="adj" fmla="val 1644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03920" y="22860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U.S. has both the highest floor and by far the highest ceiling.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3246120"/>
            <a:ext cx="2880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Escalade IQ at $127,405 sits ~$48,000 above any other market's dearest EV.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Rivian and Volvo occupy a $77k–126k band with no Canadian or Mexican counterpart.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1981 Feenstra upgrading result showing up in a product catalogue.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price matrix, five size classes, five markets, Sept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4 — THE OUTCOME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U.S. is the only one of these markets going backwards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in EV sales, 2026 versus 2025.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029968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90688" y="2029968"/>
            <a:ext cx="3803904" cy="1755648"/>
          </a:xfrm>
          <a:prstGeom prst="roundRect">
            <a:avLst>
              <a:gd name="adj" fmla="val 3125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2194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 share of new sales, 2026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252374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 22%     Canada  ~10.5%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  5.8%     Mexico  ~1.8%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90688" y="3931920"/>
            <a:ext cx="3803904" cy="1801368"/>
          </a:xfrm>
          <a:prstGeom prst="roundRect">
            <a:avLst>
              <a:gd name="adj" fmla="val 3046"/>
            </a:avLst>
          </a:prstGeom>
          <a:solidFill>
            <a:srgbClr val="FDF6E8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046720" y="40965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D9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concedes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046720" y="4407408"/>
            <a:ext cx="3291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 has near-cheapest EVs and the lowest BEV share of the four. Cheap supply is necessary but not sufficient — income and charging bind there. The U.S. has both, which is why affordable supply would convert most efficiently here.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Cox Automotive · ICCT European Car Market Monitor · J.D. Power Canada · AMIA Mexico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5 — THE CREDIT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$7,500 credit expired on 30 September 2025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battery-electric share of new-vehicle sales, by quarter. Demand was pulled forward into Q3, then the market fell through the floor.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212848"/>
          <a:ext cx="68580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2212848"/>
            <a:ext cx="3895344" cy="1042416"/>
          </a:xfrm>
          <a:prstGeom prst="roundRect">
            <a:avLst>
              <a:gd name="adj" fmla="val 5263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36992" y="233172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$7,500</a:t>
            </a:r>
            <a:endParaRPr lang="en-US" sz="2100" dirty="0"/>
          </a:p>
        </p:txBody>
      </p:sp>
      <p:sp>
        <p:nvSpPr>
          <p:cNvPr id="8" name="Text 5"/>
          <p:cNvSpPr txBox="1"/>
          <p:nvPr/>
        </p:nvSpPr>
        <p:spPr>
          <a:xfrm>
            <a:off x="7936992" y="27432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clean vehicle credit — gone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699248" y="3401568"/>
            <a:ext cx="3895344" cy="1042416"/>
          </a:xfrm>
          <a:prstGeom prst="roundRect">
            <a:avLst>
              <a:gd name="adj" fmla="val 5263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36992" y="352044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$4,000</a:t>
            </a:r>
            <a:endParaRPr lang="en-US" sz="2100" dirty="0"/>
          </a:p>
        </p:txBody>
      </p:sp>
      <p:sp>
        <p:nvSpPr>
          <p:cNvPr id="11" name="Text 8"/>
          <p:cNvSpPr txBox="1"/>
          <p:nvPr/>
        </p:nvSpPr>
        <p:spPr>
          <a:xfrm>
            <a:off x="7936992" y="393192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clean vehicle credit — gone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699248" y="4590288"/>
            <a:ext cx="3895344" cy="1042416"/>
          </a:xfrm>
          <a:prstGeom prst="roundRect">
            <a:avLst>
              <a:gd name="adj" fmla="val 5263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36992" y="470916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§45W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7936992" y="512064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lease channel that reached price-sensitive buyers — gone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797296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replacement — a loan-interest deduction — requires U.S. final assembly, which disqualifies the Nissan Leaf and Chevrolet Equinox EV: two of America's three cheapest EVs.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Big Beautiful Bill Act, signed 4 July 2025 · Cox Automotive quarterly EV share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6 — THE SHOWROOM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credit had achieved sticker parity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Chevrolet Equinox, gasoline versus electric, in the same showroom. Its removal reopened a $6,500 gap.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8580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2103120"/>
            <a:ext cx="3895344" cy="3657600"/>
          </a:xfrm>
          <a:prstGeom prst="roundRect">
            <a:avLst>
              <a:gd name="adj" fmla="val 1500"/>
            </a:avLst>
          </a:prstGeom>
          <a:solidFill>
            <a:srgbClr val="0E2A3A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2359152"/>
            <a:ext cx="34015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the credit, the electric version of a mainstream American crossover undercut its own gasoline sibling.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3529584"/>
            <a:ext cx="340156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threshold at which a technology stops needing advocacy and starts selling on arithmetic.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same electric model carries a $6,500 premium over the car parked beside it, recoverable only through years of fuel savings.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currency conversion, no income adjustment, no foreign market — this comparison is identical for every American buyer.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Cars.com 2026 Equinox and Equinox EV pricing, including destination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7548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7 — PRICING POWER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 collapsed 28% — and the discounts shrank anyway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264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competitively disciplined market, losing a quarter of your volume forces you to discount. That is what competition 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5257800" cy="1517904"/>
          </a:xfrm>
          <a:prstGeom prst="roundRect">
            <a:avLst>
              <a:gd name="adj" fmla="val 3614"/>
            </a:avLst>
          </a:prstGeom>
          <a:solidFill>
            <a:srgbClr val="16394B"/>
          </a:solidFill>
          <a:ln w="9525">
            <a:solidFill>
              <a:srgbClr val="27536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2128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−28%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859536" y="281635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BEV sales, Q1 2026 year on year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08192" y="2029968"/>
            <a:ext cx="5257800" cy="1517904"/>
          </a:xfrm>
          <a:prstGeom prst="roundRect">
            <a:avLst>
              <a:gd name="adj" fmla="val 3614"/>
            </a:avLst>
          </a:prstGeom>
          <a:solidFill>
            <a:srgbClr val="16394B"/>
          </a:solidFill>
          <a:ln w="9525">
            <a:solidFill>
              <a:srgbClr val="27536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2212848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−24%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816352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incentive spending by manufacturers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749040"/>
            <a:ext cx="5257800" cy="1517904"/>
          </a:xfrm>
          <a:prstGeom prst="roundRect">
            <a:avLst>
              <a:gd name="adj" fmla="val 3614"/>
            </a:avLst>
          </a:prstGeom>
          <a:solidFill>
            <a:srgbClr val="16394B"/>
          </a:solidFill>
          <a:ln w="9525">
            <a:solidFill>
              <a:srgbClr val="27536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$49,855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" y="453542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new-vehicle transaction price — a 2026 high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08192" y="3749040"/>
            <a:ext cx="5257800" cy="1517904"/>
          </a:xfrm>
          <a:prstGeom prst="roundRect">
            <a:avLst>
              <a:gd name="adj" fmla="val 3614"/>
            </a:avLst>
          </a:prstGeom>
          <a:solidFill>
            <a:srgbClr val="16394B"/>
          </a:solidFill>
          <a:ln w="9525">
            <a:solidFill>
              <a:srgbClr val="27536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0" y="393192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+2.5 pts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4535424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 North America EBIT margin, to 8.6%; guidance raised twice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5632704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Automakers absorbed the tariffs into sticker prices and let the deals shrink instead — which is exactly why a sticker comparison shows nothing. The increase is hidden in the incentive line.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Kelley Blue Book July 2026 · Cox Automotive · GM Q2 2026 earnings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COUNTER-TEST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uniform "American premium" — and that proves the point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price versus the comparison market, same model. Negative means the car is cheaper in the United States.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03120"/>
          <a:ext cx="694944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790688" y="2103120"/>
            <a:ext cx="3803904" cy="3611880"/>
          </a:xfrm>
          <a:prstGeom prst="roundRect">
            <a:avLst>
              <a:gd name="adj" fmla="val 1519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0" y="2340864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policy effect spread across the price range would show a consistent direction. It does not.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3346704"/>
            <a:ext cx="331012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class C the U.S. is a normal, competitive market — sometimes the cheapest on the list.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is dearer, the cause is ordinary market positioning, not the prohibition.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classes A and B the American figure is not a percentage at all. It is a blank cell.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list prices Sept 2026, ex-consumption-tax. EV9 comparison is base trim to base trim; standard content may differ between markets.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BODY TYPE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American EV market is barbell-shaped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electric option in the U.S., by body type. Two categories have no product at all — for two different reasons.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39696"/>
          <a:ext cx="6858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2139696"/>
            <a:ext cx="3895344" cy="1700784"/>
          </a:xfrm>
          <a:prstGeom prst="roundRect">
            <a:avLst>
              <a:gd name="adj" fmla="val 3226"/>
            </a:avLst>
          </a:prstGeom>
          <a:solidFill>
            <a:srgbClr val="FBEDEB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22860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car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64261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product at any price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955280" y="2980944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Supply-side: the Chinese-EV prohibition. Europe has four rivals under $20,000.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99248" y="3986784"/>
            <a:ext cx="3895344" cy="1700784"/>
          </a:xfrm>
          <a:prstGeom prst="roundRect">
            <a:avLst>
              <a:gd name="adj" fmla="val 3226"/>
            </a:avLst>
          </a:prstGeom>
          <a:solidFill>
            <a:srgbClr val="FBEDEB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55280" y="413308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Minivan / MPV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955280" y="4489704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on sale for model year 2026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828032"/>
            <a:ext cx="3383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Demand-side: VW withdrew the ID.Buzz after the credit expired. China's 7-seat BYD Xia is $27,233.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1558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policy produced a missing segment by a different mechanism — the clearest sign they are two separate forces pushing the same way, not one story told twice.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Edmunds · iSeeCars · Cars.com · CnEVPost · manufacturer listings, Sept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POWERTRAIN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subsidy was removed from one powertrain and not the other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an American pays to move off gasoline, same nameplate, same dealer.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66928" y="2139696"/>
          <a:ext cx="68580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2139696"/>
            <a:ext cx="3895344" cy="1572768"/>
          </a:xfrm>
          <a:prstGeom prst="roundRect">
            <a:avLst>
              <a:gd name="adj" fmla="val 3488"/>
            </a:avLst>
          </a:prstGeom>
          <a:solidFill>
            <a:srgbClr val="0E2A3A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0" y="2322576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Toyota no longer sells a gasoline RAV4 or Camry.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955280" y="298094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2026 every one is a hybrid. America's default powertrain has already left pure gasoline.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3858768"/>
            <a:ext cx="3895344" cy="1847088"/>
          </a:xfrm>
          <a:prstGeom prst="roundRect">
            <a:avLst>
              <a:gd name="adj" fmla="val 2970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400507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just moved to hybrid, not electric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955280" y="4425696"/>
            <a:ext cx="34015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hybrid costs ~$4,700 over gasoline and never needed a subsidy. A BEV costs ~$6,500 and lost the $7,500 that closed the gap.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 shows the destination: 69% of its electrified sales are hybrids, against 14.5% battery-electric.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5815584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Chevrolet Equinox gasoline $29,995 vs Equinox EV $36,495 · Honda CR-V $32,370 vs CR-V Hybrid $37,080 · Toyota RAV4 hybrid $33,350, PHEV $42,920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27648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Edmunds · TrueCar · Motor1 · Cars.com · AMIA Mexico, Sept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11027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081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40080"/>
            <a:ext cx="1102766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32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expect through 2030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16736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changes since the analysis was drafted matter more than anything on a watch list.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11027664" cy="923544"/>
          </a:xfrm>
          <a:prstGeom prst="roundRect">
            <a:avLst>
              <a:gd name="adj" fmla="val 5941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86000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≈85%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231136" y="2157984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stays empty to 2030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327648" y="2157984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codifying bill is bipartisan — Moreno (R) and Slotkin (D) — and framed as security, not climate. A chamber flipping in November does not touch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063240"/>
            <a:ext cx="11027664" cy="923544"/>
          </a:xfrm>
          <a:prstGeom prst="roundRect">
            <a:avLst>
              <a:gd name="adj" fmla="val 5941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19272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≈25%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231136" y="319125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credit restored and in effect before 2029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327648" y="3191256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flipped chamber still faces a veto. The loan-interest deduction sunsets in December 2028.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096512"/>
            <a:ext cx="11027664" cy="923544"/>
          </a:xfrm>
          <a:prstGeom prst="roundRect">
            <a:avLst>
              <a:gd name="adj" fmla="val 5941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352544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9A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≈20%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231136" y="42245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U.S. EV price floor below $25,000 before 2030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327648" y="422452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Ford's $30,000 pickup arrives in 2027 on LFP cells. Platform economics reach $30k, not $22k.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5129784"/>
            <a:ext cx="11027664" cy="923544"/>
          </a:xfrm>
          <a:prstGeom prst="roundRect">
            <a:avLst>
              <a:gd name="adj" fmla="val 5941"/>
            </a:avLst>
          </a:prstGeom>
          <a:solidFill>
            <a:srgbClr val="E9F0F4"/>
          </a:solidFill>
          <a:ln w="9525">
            <a:solidFill>
              <a:srgbClr val="D6E2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385816"/>
            <a:ext cx="12984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081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6–10%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231136" y="525780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BEV share range through 2030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52578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22%+ in Europe. Expect divergence, not recovery.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272784"/>
            <a:ext cx="11027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32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underweighted change: the EPA repealed the 2009 endangerment finding in February 2026, on top of the December 2025 CAFE rollback. Automakers no longer have a compliance reason to build EVs at all — structurally larger than the lost subsidy.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D99A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policy is succeeding at its stated goal and failing at the one usually attached to it.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66928" y="2615184"/>
            <a:ext cx="3456432" cy="2487168"/>
          </a:xfrm>
          <a:prstGeom prst="roundRect">
            <a:avLst>
              <a:gd name="adj" fmla="val 2206"/>
            </a:avLst>
          </a:prstGeom>
          <a:solidFill>
            <a:srgbClr val="16394B"/>
          </a:solidFill>
          <a:ln w="9525">
            <a:solidFill>
              <a:srgbClr val="2753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2834640"/>
            <a:ext cx="182880" cy="182880"/>
          </a:xfrm>
          <a:prstGeom prst="ellipse">
            <a:avLst/>
          </a:prstGeom>
          <a:solidFill>
            <a:srgbClr val="15A48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31272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Protection is working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3712464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Domestic industry shielded. GM's North American margin up 2.5 points, guidance raised twice, no Chinese market share, tariff revenue collected.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615184"/>
            <a:ext cx="3456432" cy="2487168"/>
          </a:xfrm>
          <a:prstGeom prst="roundRect">
            <a:avLst>
              <a:gd name="adj" fmla="val 2206"/>
            </a:avLst>
          </a:prstGeom>
          <a:solidFill>
            <a:srgbClr val="16394B"/>
          </a:solidFill>
          <a:ln w="9525">
            <a:solidFill>
              <a:srgbClr val="2753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3712" y="2834640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3712" y="31272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Electrification is not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53712" y="3712464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is the only market of the four where adoption fell in 2026 — −28%, against Europe +35%, Canada +40%, Mexico +44%.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91856" y="2615184"/>
            <a:ext cx="3456432" cy="2487168"/>
          </a:xfrm>
          <a:prstGeom prst="roundRect">
            <a:avLst>
              <a:gd name="adj" fmla="val 2206"/>
            </a:avLst>
          </a:prstGeom>
          <a:solidFill>
            <a:srgbClr val="16394B"/>
          </a:solidFill>
          <a:ln w="9525">
            <a:solidFill>
              <a:srgbClr val="27536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66176" y="2834640"/>
            <a:ext cx="182880" cy="182880"/>
          </a:xfrm>
          <a:prstGeom prst="ellipse">
            <a:avLst/>
          </a:prstGeom>
          <a:solidFill>
            <a:srgbClr val="D99A1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66176" y="31272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falls on one group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66176" y="3712464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C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above $40,000 are served normally. Buyers below $29,000 are served not at all. Protection removed the segment rather than raising its price.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separable goals. The open question is whether that trade is being made deliberately — or as an unexamined side effect.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1447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PESTEL · U.S. Electric Vehicle Market · Factor 1 of 6, Political · Baseline September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American EV Price Floor</dc:title>
  <dc:subject>PptxGenJS Presentation</dc:subject>
  <dc:creator>PESTEL — U.S. EV Market</dc:creator>
  <cp:lastModifiedBy>PESTEL — U.S. EV Market</cp:lastModifiedBy>
  <cp:revision>1</cp:revision>
  <dcterms:created xsi:type="dcterms:W3CDTF">2026-09-01T18:55:44Z</dcterms:created>
  <dcterms:modified xsi:type="dcterms:W3CDTF">2026-09-01T18:55:44Z</dcterms:modified>
</cp:coreProperties>
</file>